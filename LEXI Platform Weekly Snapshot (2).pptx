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Poppins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39718D6-1730-4B52-962F-F0807833DD5D}">
  <a:tblStyle styleId="{739718D6-1730-4B52-962F-F0807833DD5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Lato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PoppinsSemiBold-regular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boldItalic.fntdata"/><Relationship Id="rId30" Type="http://schemas.openxmlformats.org/officeDocument/2006/relationships/font" Target="fonts/PoppinsSemiBold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9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22.png"/><Relationship Id="rId7" Type="http://schemas.openxmlformats.org/officeDocument/2006/relationships/image" Target="../media/image21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25.png"/><Relationship Id="rId6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7.png"/><Relationship Id="rId6" Type="http://schemas.openxmlformats.org/officeDocument/2006/relationships/image" Target="../media/image15.png"/><Relationship Id="rId7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9" Type="http://schemas.openxmlformats.org/officeDocument/2006/relationships/image" Target="../media/image26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16.png"/><Relationship Id="rId8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545681" y="2466975"/>
            <a:ext cx="5100637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004080"/>
                </a:solidFill>
                <a:latin typeface="Poppins"/>
                <a:ea typeface="Poppins"/>
                <a:cs typeface="Poppins"/>
                <a:sym typeface="Poppins"/>
              </a:rPr>
              <a:t>LEXI Platform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667125" y="3810000"/>
            <a:ext cx="48577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Weekly Snapshot &amp; Strategic Progress Overview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3667125" y="3619500"/>
            <a:ext cx="485775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38300"/>
            <a:ext cx="110490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3400425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Note: On-hold items primarily due to transition delays and infrastructure dependencies.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40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Weekly Snapshot: Execution Status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38300"/>
            <a:ext cx="3429000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638300"/>
            <a:ext cx="3429000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638300"/>
            <a:ext cx="3429000" cy="286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795813" y="2667000"/>
            <a:ext cx="298037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080"/>
                </a:solidFill>
                <a:latin typeface="Poppins"/>
                <a:ea typeface="Poppins"/>
                <a:cs typeface="Poppins"/>
                <a:sym typeface="Poppins"/>
              </a:rPr>
              <a:t>Jenkins Server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66775" y="3267075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Hardware failure: Server currently OFF. Critical dependency for CI/CD pipelines.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4605813" y="2667000"/>
            <a:ext cx="298037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080"/>
                </a:solidFill>
                <a:latin typeface="Poppins"/>
                <a:ea typeface="Poppins"/>
                <a:cs typeface="Poppins"/>
                <a:sym typeface="Poppins"/>
              </a:rPr>
              <a:t>Budget Refresh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4676775" y="3267075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Pending leadership approval for infrastructure refresh to resume full engineering velocity.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415813" y="2667000"/>
            <a:ext cx="298037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080"/>
                </a:solidFill>
                <a:latin typeface="Poppins"/>
                <a:ea typeface="Poppins"/>
                <a:cs typeface="Poppins"/>
                <a:sym typeface="Poppins"/>
              </a:rPr>
              <a:t>Transition Phase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486775" y="3267075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Ongoing risks in transitioning on-hold items to active sprints without dedicated platform support.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7400" y="19812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19812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7400" y="19812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40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Critical Blockers &amp; Risks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1" name="Google Shape;121;p16"/>
          <p:cNvGraphicFramePr/>
          <p:nvPr/>
        </p:nvGraphicFramePr>
        <p:xfrm>
          <a:off x="571500" y="16383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{739718D6-1730-4B52-962F-F0807833DD5D}</a:tableStyleId>
              </a:tblPr>
              <a:tblGrid>
                <a:gridCol w="2733975"/>
                <a:gridCol w="3364100"/>
                <a:gridCol w="4950925"/>
              </a:tblGrid>
              <a:tr h="61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Customer / Project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Implementation Stream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Weekly Focus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1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TAFE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GENUE Integration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Core capability alignment &amp; Samil bar validation.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Renault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AI Diagnostics Development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Diagnostic module testing &amp; Platform readiness.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DevSecOps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Cybersecurity Pipeline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 gate automation &amp; vulnerability scanning.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2" name="Google Shape;122;p16"/>
          <p:cNvSpPr/>
          <p:nvPr/>
        </p:nvSpPr>
        <p:spPr>
          <a:xfrm>
            <a:off x="571500" y="2262187"/>
            <a:ext cx="27339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3305472" y="2262187"/>
            <a:ext cx="33641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6669583" y="2262187"/>
            <a:ext cx="49509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571500" y="2871787"/>
            <a:ext cx="27339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3305472" y="2871787"/>
            <a:ext cx="33641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6669583" y="2871787"/>
            <a:ext cx="49509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571500" y="3481387"/>
            <a:ext cx="27339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3305472" y="3481387"/>
            <a:ext cx="33641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6669583" y="3481387"/>
            <a:ext cx="49509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571500" y="4090987"/>
            <a:ext cx="27339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3305472" y="4090987"/>
            <a:ext cx="33641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6669583" y="4090987"/>
            <a:ext cx="49509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40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Customer Progress Overview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38300"/>
            <a:ext cx="110490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40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Customer Status: Implementation Completion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38300"/>
            <a:ext cx="110490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40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Platform Engineering: Progress Overview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38300"/>
            <a:ext cx="336545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1638300"/>
            <a:ext cx="336545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54900" y="1638300"/>
            <a:ext cx="3365450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571500" y="3581400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Urgent support required from leadership to resolve infrastructure bottlenecks.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857250" y="1924050"/>
            <a:ext cx="27939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DC3545"/>
                </a:solidFill>
                <a:latin typeface="Poppins"/>
                <a:ea typeface="Poppins"/>
                <a:cs typeface="Poppins"/>
                <a:sym typeface="Poppins"/>
              </a:rPr>
              <a:t>0%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857250" y="2781300"/>
            <a:ext cx="2793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Jenkins Uptime (Blocked)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4698950" y="1924050"/>
            <a:ext cx="27939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DC3545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4698950" y="2781300"/>
            <a:ext cx="2793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Critical Resource Gaps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8540650" y="1924050"/>
            <a:ext cx="27939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DC3545"/>
                </a:solidFill>
                <a:latin typeface="Poppins"/>
                <a:ea typeface="Poppins"/>
                <a:cs typeface="Poppins"/>
                <a:sym typeface="Poppins"/>
              </a:rPr>
              <a:t>Q4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8540650" y="2781300"/>
            <a:ext cx="2793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Target Readiness Date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40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Engineering Status: Risks &amp; Mitigation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3830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571500" y="2252662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Advancing Knowledge Retrieval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571500" y="2700337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GraphRAG pipelines are the backbone of LEXI's intelligent retrieval capabilities. Current progress includes:</a:t>
            </a:r>
            <a:endParaRPr/>
          </a:p>
        </p:txBody>
      </p:sp>
      <p:pic>
        <p:nvPicPr>
          <p:cNvPr descr="image.png" id="177" name="Google Shape;17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2225" y="1676400"/>
            <a:ext cx="5210175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952500" y="3405187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Automated pipeline schema generation.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952500" y="3881437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Integration with TAFE data lakes.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952500" y="4357687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Ongoing: Latency optimization for high-scale queries.</a:t>
            </a:r>
            <a:endParaRPr/>
          </a:p>
        </p:txBody>
      </p:sp>
      <p:pic>
        <p:nvPicPr>
          <p:cNvPr descr="image.png" id="181" name="Google Shape;18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337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100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8626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40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Core Capability Spotlight: GraphRAG</a:t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/>
          <p:nvPr/>
        </p:nvSpPr>
        <p:spPr>
          <a:xfrm>
            <a:off x="5619750" y="2667000"/>
            <a:ext cx="952500" cy="47625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1930479" y="3000375"/>
            <a:ext cx="8331041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4080"/>
                </a:solidFill>
                <a:latin typeface="Poppins"/>
                <a:ea typeface="Poppins"/>
                <a:cs typeface="Poppins"/>
                <a:sym typeface="Poppins"/>
              </a:rPr>
              <a:t>Leadership Decision Points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2128837" y="4048125"/>
            <a:ext cx="79343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Strategic alignment required on Infrastructure &amp; Resources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 txBox="1"/>
          <p:nvPr/>
        </p:nvSpPr>
        <p:spPr>
          <a:xfrm>
            <a:off x="1333500" y="1790700"/>
            <a:ext cx="10287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Infrastructure Recovery: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Finalizing Jenkins server temporary workaround or migration plan.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1333500" y="2266950"/>
            <a:ext cx="10287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GraphRAG Validation: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Completing accuracy testing for the Renault diagnostics module.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1333500" y="2743200"/>
            <a:ext cx="10287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Samil Integration: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Aligning with TAFE technical leads on bar chart metric representations.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1333500" y="3219450"/>
            <a:ext cx="10287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SecOps Hardening: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Implementing automated vulnerability patches in the dev environment.</a:t>
            </a:r>
            <a:endParaRPr/>
          </a:p>
        </p:txBody>
      </p:sp>
      <p:pic>
        <p:nvPicPr>
          <p:cNvPr descr="image.png" id="203" name="Google Shape;20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18192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22955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277177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324802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40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Next Week: Strategic Focus</a:t>
            </a: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38300"/>
            <a:ext cx="3429000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638300"/>
            <a:ext cx="3429000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638300"/>
            <a:ext cx="34290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795813" y="2667000"/>
            <a:ext cx="298037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080"/>
                </a:solidFill>
                <a:latin typeface="Poppins"/>
                <a:ea typeface="Poppins"/>
                <a:cs typeface="Poppins"/>
                <a:sym typeface="Poppins"/>
              </a:rPr>
              <a:t>RAG Progress Report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866775" y="3267075"/>
            <a:ext cx="2838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Detailed breakdown of task velocity following infra resolution.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4605813" y="2667000"/>
            <a:ext cx="298037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080"/>
                </a:solidFill>
                <a:latin typeface="Poppins"/>
                <a:ea typeface="Poppins"/>
                <a:cs typeface="Poppins"/>
                <a:sym typeface="Poppins"/>
              </a:rPr>
              <a:t>Alpha Pipeline v2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4676775" y="3267075"/>
            <a:ext cx="2838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Deployment of updated DevSecOps scanning gates.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8415813" y="2667000"/>
            <a:ext cx="298037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080"/>
                </a:solidFill>
                <a:latin typeface="Poppins"/>
                <a:ea typeface="Poppins"/>
                <a:cs typeface="Poppins"/>
                <a:sym typeface="Poppins"/>
              </a:rPr>
              <a:t>TAFE Alignment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8486775" y="3267075"/>
            <a:ext cx="2838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Finalized specs for Samil % representation on platform UI.</a:t>
            </a:r>
            <a:endParaRPr/>
          </a:p>
        </p:txBody>
      </p:sp>
      <p:pic>
        <p:nvPicPr>
          <p:cNvPr descr="image.png" id="223" name="Google Shape;22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28825" y="198120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5975" y="198120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0" y="198120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3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40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Next Week: Key Deliverables</a:t>
            </a:r>
            <a:endParaRPr/>
          </a:p>
        </p:txBody>
      </p:sp>
      <p:sp>
        <p:nvSpPr>
          <p:cNvPr id="227" name="Google Shape;227;p23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4"/>
          <p:cNvSpPr txBox="1"/>
          <p:nvPr/>
        </p:nvSpPr>
        <p:spPr>
          <a:xfrm>
            <a:off x="3825716" y="2466975"/>
            <a:ext cx="4540567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004080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3933825" y="3810000"/>
            <a:ext cx="43243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LEXI Platform Engineering &amp; Strategy Team</a:t>
            </a:r>
            <a:endParaRPr/>
          </a:p>
        </p:txBody>
      </p:sp>
      <p:sp>
        <p:nvSpPr>
          <p:cNvPr id="235" name="Google Shape;235;p24"/>
          <p:cNvSpPr/>
          <p:nvPr/>
        </p:nvSpPr>
        <p:spPr>
          <a:xfrm>
            <a:off x="3933825" y="3619500"/>
            <a:ext cx="432435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811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5"/>
          <p:cNvSpPr txBox="1"/>
          <p:nvPr/>
        </p:nvSpPr>
        <p:spPr>
          <a:xfrm>
            <a:off x="1666875" y="17883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https://dist.neo4j.com/wp-content/uploads/20251001155724/Accordion-5-992x1024.webp</a:t>
            </a:r>
            <a:endParaRPr/>
          </a:p>
        </p:txBody>
      </p:sp>
      <p:sp>
        <p:nvSpPr>
          <p:cNvPr id="243" name="Google Shape;243;p25"/>
          <p:cNvSpPr txBox="1"/>
          <p:nvPr/>
        </p:nvSpPr>
        <p:spPr>
          <a:xfrm>
            <a:off x="1666875" y="20216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neo4j.com</a:t>
            </a:r>
            <a:endParaRPr/>
          </a:p>
        </p:txBody>
      </p:sp>
      <p:sp>
        <p:nvSpPr>
          <p:cNvPr id="244" name="Google Shape;244;p2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40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245" name="Google Shape;245;p25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