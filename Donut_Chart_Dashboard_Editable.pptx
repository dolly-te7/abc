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 Streams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E40AF"/>
              </a:solidFill>
              <a:effectLst/>
            </c:spPr>
          </c:dPt>
          <c:dPt>
            <c:idx val="1"/>
            <c:bubble3D val="0"/>
            <c:spPr>
              <a:solidFill>
                <a:srgbClr val="2563EB"/>
              </a:solidFill>
              <a:effectLst/>
            </c:spPr>
          </c:dPt>
          <c:dPt>
            <c:idx val="2"/>
            <c:bubble3D val="0"/>
            <c:spPr>
              <a:solidFill>
                <a:srgbClr val="3B82F6"/>
              </a:solidFill>
              <a:effectLst/>
            </c:spPr>
          </c:dPt>
          <c:dPt>
            <c:idx val="3"/>
            <c:bubble3D val="0"/>
            <c:spPr>
              <a:solidFill>
                <a:srgbClr val="60A5FA"/>
              </a:solidFill>
              <a:effectLst/>
            </c:spPr>
          </c:dPt>
          <c:dPt>
            <c:idx val="4"/>
            <c:bubble3D val="0"/>
            <c:spPr>
              <a:solidFill>
                <a:srgbClr val="93C5FD"/>
              </a:solidFill>
              <a:effectLst/>
            </c:spPr>
          </c:dPt>
          <c:dPt>
            <c:idx val="5"/>
            <c:bubble3D val="0"/>
            <c:spPr>
              <a:solidFill>
                <a:srgbClr val="BFDBFE"/>
              </a:solidFill>
              <a:effectLst/>
            </c:spPr>
          </c:dPt>
          <c:dPt>
            <c:idx val="6"/>
            <c:bubble3D val="0"/>
            <c:spPr>
              <a:solidFill>
                <a:srgbClr val="7C3AED"/>
              </a:solidFill>
              <a:effectLst/>
            </c:spPr>
          </c:dPt>
          <c:dPt>
            <c:idx val="7"/>
            <c:bubble3D val="0"/>
            <c:spPr>
              <a:solidFill>
                <a:srgbClr val="A78BFA"/>
              </a:solidFill>
              <a:effectLst/>
            </c:spPr>
          </c:dPt>
          <c:dPt>
            <c:idx val="8"/>
            <c:bubble3D val="0"/>
            <c:spPr>
              <a:solidFill>
                <a:srgbClr val="C4B5FD"/>
              </a:solidFill>
              <a:effectLst/>
            </c:spPr>
          </c:dPt>
          <c:dPt>
            <c:idx val="9"/>
            <c:bubble3D val="0"/>
            <c:spPr>
              <a:solidFill>
                <a:srgbClr val="DDD6FE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numFmt formatCode="General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5"/>
              <c:numFmt formatCode="General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6"/>
              <c:numFmt formatCode="General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7"/>
              <c:numFmt formatCode="General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8"/>
              <c:numFmt formatCode="General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9"/>
              <c:numFmt formatCode="General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Sheet1!$A$2:$A$11</c:f>
              <c:strCache>
                <c:ptCount val="10"/>
                <c:pt idx="0">
                  <c:v>Direct Sales</c:v>
                </c:pt>
                <c:pt idx="1">
                  <c:v>E-commerce</c:v>
                </c:pt>
                <c:pt idx="2">
                  <c:v>Wholesale</c:v>
                </c:pt>
                <c:pt idx="3">
                  <c:v>Retail Stores</c:v>
                </c:pt>
                <c:pt idx="4">
                  <c:v>Partner Network</c:v>
                </c:pt>
                <c:pt idx="5">
                  <c:v>Licensing</c:v>
                </c:pt>
                <c:pt idx="6">
                  <c:v>Subscriptions</c:v>
                </c:pt>
                <c:pt idx="7">
                  <c:v>Enterprise</c:v>
                </c:pt>
                <c:pt idx="8">
                  <c:v>International</c:v>
                </c:pt>
                <c:pt idx="9">
                  <c:v>Marketplaces</c:v>
                </c:pt>
              </c:strCache>
            </c:strRef>
          </c:cat>
          <c:val>
            <c:numRef>
              <c:f>Sheet1!$B$2:$B$11</c:f>
              <c:numCache>
                <c:ptCount val="10"/>
                <c:pt idx="0">
                  <c:v>1200</c:v>
                </c:pt>
                <c:pt idx="1">
                  <c:v>980</c:v>
                </c:pt>
                <c:pt idx="2">
                  <c:v>760</c:v>
                </c:pt>
                <c:pt idx="3">
                  <c:v>640</c:v>
                </c:pt>
                <c:pt idx="4">
                  <c:v>520</c:v>
                </c:pt>
                <c:pt idx="5">
                  <c:v>430</c:v>
                </c:pt>
                <c:pt idx="6">
                  <c:v>380</c:v>
                </c:pt>
                <c:pt idx="7">
                  <c:v>310</c:v>
                </c:pt>
                <c:pt idx="8">
                  <c:v>250</c:v>
                </c:pt>
                <c:pt idx="9">
                  <c:v>190</c:v>
                </c:pt>
              </c:numCache>
            </c:numRef>
          </c:val>
        </c:ser>
        <c:firstSliceAng val="0"/>
        <c:holeSize val="60"/>
      </c:doughnutChart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Customer Segments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64E3B"/>
              </a:solidFill>
              <a:effectLst/>
            </c:spPr>
          </c:dPt>
          <c:dPt>
            <c:idx val="1"/>
            <c:bubble3D val="0"/>
            <c:spPr>
              <a:solidFill>
                <a:srgbClr val="065F46"/>
              </a:solidFill>
              <a:effectLst/>
            </c:spPr>
          </c:dPt>
          <c:dPt>
            <c:idx val="2"/>
            <c:bubble3D val="0"/>
            <c:spPr>
              <a:solidFill>
                <a:srgbClr val="047857"/>
              </a:solidFill>
              <a:effectLst/>
            </c:spPr>
          </c:dPt>
          <c:dPt>
            <c:idx val="3"/>
            <c:bubble3D val="0"/>
            <c:spPr>
              <a:solidFill>
                <a:srgbClr val="059669"/>
              </a:solidFill>
              <a:effectLst/>
            </c:spPr>
          </c:dPt>
          <c:dPt>
            <c:idx val="4"/>
            <c:bubble3D val="0"/>
            <c:spPr>
              <a:solidFill>
                <a:srgbClr val="10B981"/>
              </a:solidFill>
              <a:effectLst/>
            </c:spPr>
          </c:dPt>
          <c:dPt>
            <c:idx val="5"/>
            <c:bubble3D val="0"/>
            <c:spPr>
              <a:solidFill>
                <a:srgbClr val="34D399"/>
              </a:solidFill>
              <a:effectLst/>
            </c:spPr>
          </c:dPt>
          <c:dPt>
            <c:idx val="6"/>
            <c:bubble3D val="0"/>
            <c:spPr>
              <a:solidFill>
                <a:srgbClr val="6EE7B7"/>
              </a:solidFill>
              <a:effectLst/>
            </c:spPr>
          </c:dPt>
          <c:dPt>
            <c:idx val="7"/>
            <c:bubble3D val="0"/>
            <c:spPr>
              <a:solidFill>
                <a:srgbClr val="6D28D9"/>
              </a:solidFill>
              <a:effectLst/>
            </c:spPr>
          </c:dPt>
          <c:dPt>
            <c:idx val="8"/>
            <c:bubble3D val="0"/>
            <c:spPr>
              <a:solidFill>
                <a:srgbClr val="8B5CF6"/>
              </a:solidFill>
              <a:effectLst/>
            </c:spPr>
          </c:dPt>
          <c:dPt>
            <c:idx val="9"/>
            <c:bubble3D val="0"/>
            <c:spPr>
              <a:solidFill>
                <a:srgbClr val="A78BFA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numFmt formatCode="General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5"/>
              <c:numFmt formatCode="General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6"/>
              <c:numFmt formatCode="General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7"/>
              <c:numFmt formatCode="General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8"/>
              <c:numFmt formatCode="General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9"/>
              <c:numFmt formatCode="General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Sheet1!$A$2:$A$11</c:f>
              <c:strCache>
                <c:ptCount val="10"/>
                <c:pt idx="0">
                  <c:v>Enterprise</c:v>
                </c:pt>
                <c:pt idx="1">
                  <c:v>SMB</c:v>
                </c:pt>
                <c:pt idx="2">
                  <c:v>Startups</c:v>
                </c:pt>
                <c:pt idx="3">
                  <c:v>Government</c:v>
                </c:pt>
                <c:pt idx="4">
                  <c:v>Education</c:v>
                </c:pt>
                <c:pt idx="5">
                  <c:v>Healthcare</c:v>
                </c:pt>
                <c:pt idx="6">
                  <c:v>Retail</c:v>
                </c:pt>
                <c:pt idx="7">
                  <c:v>Finance</c:v>
                </c:pt>
                <c:pt idx="8">
                  <c:v>Tech</c:v>
                </c:pt>
                <c:pt idx="9">
                  <c:v>Others</c:v>
                </c:pt>
              </c:strCache>
            </c:strRef>
          </c:cat>
          <c:val>
            <c:numRef>
              <c:f>Sheet1!$B$2:$B$11</c:f>
              <c:numCache>
                <c:ptCount val="10"/>
                <c:pt idx="0">
                  <c:v>2800</c:v>
                </c:pt>
                <c:pt idx="1">
                  <c:v>2400</c:v>
                </c:pt>
                <c:pt idx="2">
                  <c:v>1900</c:v>
                </c:pt>
                <c:pt idx="3">
                  <c:v>1600</c:v>
                </c:pt>
                <c:pt idx="4">
                  <c:v>1400</c:v>
                </c:pt>
                <c:pt idx="5">
                  <c:v>1150</c:v>
                </c:pt>
                <c:pt idx="6">
                  <c:v>980</c:v>
                </c:pt>
                <c:pt idx="7">
                  <c:v>820</c:v>
                </c:pt>
                <c:pt idx="8">
                  <c:v>650</c:v>
                </c:pt>
                <c:pt idx="9">
                  <c:v>410</c:v>
                </c:pt>
              </c:numCache>
            </c:numRef>
          </c:val>
        </c:ser>
        <c:firstSliceAng val="0"/>
        <c:holeSize val="60"/>
      </c:doughnutChart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Product Portfolio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7C2D12"/>
              </a:solidFill>
              <a:effectLst/>
            </c:spPr>
          </c:dPt>
          <c:dPt>
            <c:idx val="1"/>
            <c:bubble3D val="0"/>
            <c:spPr>
              <a:solidFill>
                <a:srgbClr val="9A3412"/>
              </a:solidFill>
              <a:effectLst/>
            </c:spPr>
          </c:dPt>
          <c:dPt>
            <c:idx val="2"/>
            <c:bubble3D val="0"/>
            <c:spPr>
              <a:solidFill>
                <a:srgbClr val="C2410C"/>
              </a:solidFill>
              <a:effectLst/>
            </c:spPr>
          </c:dPt>
          <c:dPt>
            <c:idx val="3"/>
            <c:bubble3D val="0"/>
            <c:spPr>
              <a:solidFill>
                <a:srgbClr val="EA580C"/>
              </a:solidFill>
              <a:effectLst/>
            </c:spPr>
          </c:dPt>
          <c:dPt>
            <c:idx val="4"/>
            <c:bubble3D val="0"/>
            <c:spPr>
              <a:solidFill>
                <a:srgbClr val="F97316"/>
              </a:solidFill>
              <a:effectLst/>
            </c:spPr>
          </c:dPt>
          <c:dPt>
            <c:idx val="5"/>
            <c:bubble3D val="0"/>
            <c:spPr>
              <a:solidFill>
                <a:srgbClr val="FB923C"/>
              </a:solidFill>
              <a:effectLst/>
            </c:spPr>
          </c:dPt>
          <c:dPt>
            <c:idx val="6"/>
            <c:bubble3D val="0"/>
            <c:spPr>
              <a:solidFill>
                <a:srgbClr val="FDBA74"/>
              </a:solidFill>
              <a:effectLst/>
            </c:spPr>
          </c:dPt>
          <c:dPt>
            <c:idx val="7"/>
            <c:bubble3D val="0"/>
            <c:spPr>
              <a:solidFill>
                <a:srgbClr val="BE185D"/>
              </a:solidFill>
              <a:effectLst/>
            </c:spPr>
          </c:dPt>
          <c:dPt>
            <c:idx val="8"/>
            <c:bubble3D val="0"/>
            <c:spPr>
              <a:solidFill>
                <a:srgbClr val="E11D48"/>
              </a:solidFill>
              <a:effectLst/>
            </c:spPr>
          </c:dPt>
          <c:dPt>
            <c:idx val="9"/>
            <c:bubble3D val="0"/>
            <c:spPr>
              <a:solidFill>
                <a:srgbClr val="F43F5E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numFmt formatCode="General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5"/>
              <c:numFmt formatCode="General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6"/>
              <c:numFmt formatCode="General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7"/>
              <c:numFmt formatCode="General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8"/>
              <c:numFmt formatCode="General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9"/>
              <c:numFmt formatCode="General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Sheet1!$A$2:$A$11</c:f>
              <c:strCache>
                <c:ptCount val="10"/>
                <c:pt idx="0">
                  <c:v>Core Platform</c:v>
                </c:pt>
                <c:pt idx="1">
                  <c:v>Analytics Suite</c:v>
                </c:pt>
                <c:pt idx="2">
                  <c:v>Mobile App</c:v>
                </c:pt>
                <c:pt idx="3">
                  <c:v>API Gateway</c:v>
                </c:pt>
                <c:pt idx="4">
                  <c:v>Security Pkg</c:v>
                </c:pt>
                <c:pt idx="5">
                  <c:v>Integration Hub</c:v>
                </c:pt>
                <c:pt idx="6">
                  <c:v>Support Plans</c:v>
                </c:pt>
                <c:pt idx="7">
                  <c:v>Cloud Storage</c:v>
                </c:pt>
                <c:pt idx="8">
                  <c:v>AI Features</c:v>
                </c:pt>
                <c:pt idx="9">
                  <c:v>Custom Dev</c:v>
                </c:pt>
              </c:strCache>
            </c:strRef>
          </c:cat>
          <c:val>
            <c:numRef>
              <c:f>Sheet1!$B$2:$B$11</c:f>
              <c:numCache>
                <c:ptCount val="10"/>
                <c:pt idx="0">
                  <c:v>2100</c:v>
                </c:pt>
                <c:pt idx="1">
                  <c:v>1750</c:v>
                </c:pt>
                <c:pt idx="2">
                  <c:v>1500</c:v>
                </c:pt>
                <c:pt idx="3">
                  <c:v>1300</c:v>
                </c:pt>
                <c:pt idx="4">
                  <c:v>1100</c:v>
                </c:pt>
                <c:pt idx="5">
                  <c:v>950</c:v>
                </c:pt>
                <c:pt idx="6">
                  <c:v>800</c:v>
                </c:pt>
                <c:pt idx="7">
                  <c:v>650</c:v>
                </c:pt>
                <c:pt idx="8">
                  <c:v>500</c:v>
                </c:pt>
                <c:pt idx="9">
                  <c:v>380</c:v>
                </c:pt>
              </c:numCache>
            </c:numRef>
          </c:val>
        </c:ser>
        <c:firstSliceAng val="0"/>
        <c:holeSize val="60"/>
      </c:doughnutChart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chart" Target="/ppt/charts/chart3.xm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Intelligence Dashboard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658368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2026 | Three-Group Performance Overview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3566160" cy="5212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3566160" cy="54864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16128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Streams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1490472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Revenue by Channel</a:t>
            </a:r>
            <a:endParaRPr lang="en-US" sz="9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548640" y="1764792"/>
          <a:ext cx="3383280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6"/>
          <p:cNvSpPr/>
          <p:nvPr/>
        </p:nvSpPr>
        <p:spPr>
          <a:xfrm>
            <a:off x="548640" y="246888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548640" y="2724912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$4.8M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594360" y="4215384"/>
            <a:ext cx="109728" cy="109728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40664" y="4178808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Sales 21%</a:t>
            </a:r>
            <a:endParaRPr lang="en-US" sz="700" dirty="0"/>
          </a:p>
        </p:txBody>
      </p:sp>
      <p:sp>
        <p:nvSpPr>
          <p:cNvPr id="13" name="Shape 10"/>
          <p:cNvSpPr/>
          <p:nvPr/>
        </p:nvSpPr>
        <p:spPr>
          <a:xfrm>
            <a:off x="594360" y="4416552"/>
            <a:ext cx="109728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40664" y="4379976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17%</a:t>
            </a:r>
            <a:endParaRPr lang="en-US" sz="700" dirty="0"/>
          </a:p>
        </p:txBody>
      </p:sp>
      <p:sp>
        <p:nvSpPr>
          <p:cNvPr id="15" name="Shape 12"/>
          <p:cNvSpPr/>
          <p:nvPr/>
        </p:nvSpPr>
        <p:spPr>
          <a:xfrm>
            <a:off x="594360" y="4617720"/>
            <a:ext cx="109728" cy="10972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40664" y="4581144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Wholesale 13%</a:t>
            </a:r>
            <a:endParaRPr lang="en-US" sz="700" dirty="0"/>
          </a:p>
        </p:txBody>
      </p:sp>
      <p:sp>
        <p:nvSpPr>
          <p:cNvPr id="17" name="Shape 14"/>
          <p:cNvSpPr/>
          <p:nvPr/>
        </p:nvSpPr>
        <p:spPr>
          <a:xfrm>
            <a:off x="594360" y="4818888"/>
            <a:ext cx="109728" cy="10972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40664" y="4782312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Stores 11%</a:t>
            </a:r>
            <a:endParaRPr lang="en-US" sz="700" dirty="0"/>
          </a:p>
        </p:txBody>
      </p:sp>
      <p:sp>
        <p:nvSpPr>
          <p:cNvPr id="19" name="Shape 16"/>
          <p:cNvSpPr/>
          <p:nvPr/>
        </p:nvSpPr>
        <p:spPr>
          <a:xfrm>
            <a:off x="594360" y="5020056"/>
            <a:ext cx="109728" cy="109728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40664" y="4983480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Network 9%</a:t>
            </a:r>
            <a:endParaRPr lang="en-US" sz="700" dirty="0"/>
          </a:p>
        </p:txBody>
      </p:sp>
      <p:sp>
        <p:nvSpPr>
          <p:cNvPr id="21" name="Shape 18"/>
          <p:cNvSpPr/>
          <p:nvPr/>
        </p:nvSpPr>
        <p:spPr>
          <a:xfrm>
            <a:off x="2240280" y="4215384"/>
            <a:ext cx="109728" cy="109728"/>
          </a:xfrm>
          <a:prstGeom prst="rect">
            <a:avLst/>
          </a:prstGeom>
          <a:solidFill>
            <a:srgbClr val="BFDB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2386584" y="4178808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Licensing 8%</a:t>
            </a:r>
            <a:endParaRPr lang="en-US" sz="700" dirty="0"/>
          </a:p>
        </p:txBody>
      </p:sp>
      <p:sp>
        <p:nvSpPr>
          <p:cNvPr id="23" name="Shape 20"/>
          <p:cNvSpPr/>
          <p:nvPr/>
        </p:nvSpPr>
        <p:spPr>
          <a:xfrm>
            <a:off x="2240280" y="4416552"/>
            <a:ext cx="109728" cy="1097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2386584" y="4379976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Subscriptions 7%</a:t>
            </a:r>
            <a:endParaRPr lang="en-US" sz="700" dirty="0"/>
          </a:p>
        </p:txBody>
      </p:sp>
      <p:sp>
        <p:nvSpPr>
          <p:cNvPr id="25" name="Shape 22"/>
          <p:cNvSpPr/>
          <p:nvPr/>
        </p:nvSpPr>
        <p:spPr>
          <a:xfrm>
            <a:off x="2240280" y="4617720"/>
            <a:ext cx="109728" cy="10972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2386584" y="4581144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5%</a:t>
            </a:r>
            <a:endParaRPr lang="en-US" sz="700" dirty="0"/>
          </a:p>
        </p:txBody>
      </p:sp>
      <p:sp>
        <p:nvSpPr>
          <p:cNvPr id="27" name="Shape 24"/>
          <p:cNvSpPr/>
          <p:nvPr/>
        </p:nvSpPr>
        <p:spPr>
          <a:xfrm>
            <a:off x="2240280" y="4818888"/>
            <a:ext cx="109728" cy="109728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2386584" y="4782312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4%</a:t>
            </a:r>
            <a:endParaRPr lang="en-US" sz="700" dirty="0"/>
          </a:p>
        </p:txBody>
      </p:sp>
      <p:sp>
        <p:nvSpPr>
          <p:cNvPr id="29" name="Shape 26"/>
          <p:cNvSpPr/>
          <p:nvPr/>
        </p:nvSpPr>
        <p:spPr>
          <a:xfrm>
            <a:off x="2240280" y="5020056"/>
            <a:ext cx="109728" cy="109728"/>
          </a:xfrm>
          <a:prstGeom prst="rect">
            <a:avLst/>
          </a:prstGeom>
          <a:solidFill>
            <a:srgbClr val="DDD6FE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2386584" y="4983480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Marketplaces 3%</a:t>
            </a:r>
            <a:endParaRPr lang="en-US" sz="700" dirty="0"/>
          </a:p>
        </p:txBody>
      </p:sp>
      <p:sp>
        <p:nvSpPr>
          <p:cNvPr id="31" name="Shape 28"/>
          <p:cNvSpPr/>
          <p:nvPr/>
        </p:nvSpPr>
        <p:spPr>
          <a:xfrm>
            <a:off x="4297680" y="1051560"/>
            <a:ext cx="3566160" cy="5212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4297680" y="1051560"/>
            <a:ext cx="3566160" cy="54864"/>
          </a:xfrm>
          <a:prstGeom prst="rect">
            <a:avLst/>
          </a:prstGeom>
          <a:solidFill>
            <a:srgbClr val="064E3B"/>
          </a:solidFill>
          <a:ln w="12700">
            <a:solidFill>
              <a:srgbClr val="064E3B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434840" y="116128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Segments</a:t>
            </a:r>
            <a:endParaRPr lang="en-US" sz="1400" dirty="0"/>
          </a:p>
        </p:txBody>
      </p:sp>
      <p:sp>
        <p:nvSpPr>
          <p:cNvPr id="34" name="Text 31"/>
          <p:cNvSpPr/>
          <p:nvPr/>
        </p:nvSpPr>
        <p:spPr>
          <a:xfrm>
            <a:off x="4434840" y="1490472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Distribution by Segment</a:t>
            </a:r>
            <a:endParaRPr lang="en-US" sz="900" dirty="0"/>
          </a:p>
        </p:txBody>
      </p:sp>
      <p:graphicFrame>
        <p:nvGraphicFramePr>
          <p:cNvPr id="35" name="Chart 1" descr=""/>
          <p:cNvGraphicFramePr/>
          <p:nvPr/>
        </p:nvGraphicFramePr>
        <p:xfrm>
          <a:off x="4389120" y="1764792"/>
          <a:ext cx="3383280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6" name="Text 32"/>
          <p:cNvSpPr/>
          <p:nvPr/>
        </p:nvSpPr>
        <p:spPr>
          <a:xfrm>
            <a:off x="4389120" y="246888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800" dirty="0"/>
          </a:p>
        </p:txBody>
      </p:sp>
      <p:sp>
        <p:nvSpPr>
          <p:cNvPr id="37" name="Text 33"/>
          <p:cNvSpPr/>
          <p:nvPr/>
        </p:nvSpPr>
        <p:spPr>
          <a:xfrm>
            <a:off x="4389120" y="2724912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124K</a:t>
            </a:r>
            <a:endParaRPr lang="en-US" sz="2000" dirty="0"/>
          </a:p>
        </p:txBody>
      </p:sp>
      <p:sp>
        <p:nvSpPr>
          <p:cNvPr id="38" name="Shape 34"/>
          <p:cNvSpPr/>
          <p:nvPr/>
        </p:nvSpPr>
        <p:spPr>
          <a:xfrm>
            <a:off x="4434840" y="4215384"/>
            <a:ext cx="109728" cy="109728"/>
          </a:xfrm>
          <a:prstGeom prst="rect">
            <a:avLst/>
          </a:prstGeom>
          <a:solidFill>
            <a:srgbClr val="064E3B"/>
          </a:solidFill>
          <a:ln w="12700">
            <a:solidFill>
              <a:srgbClr val="064E3B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4581144" y="4178808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20%</a:t>
            </a:r>
            <a:endParaRPr lang="en-US" sz="700" dirty="0"/>
          </a:p>
        </p:txBody>
      </p:sp>
      <p:sp>
        <p:nvSpPr>
          <p:cNvPr id="40" name="Shape 36"/>
          <p:cNvSpPr/>
          <p:nvPr/>
        </p:nvSpPr>
        <p:spPr>
          <a:xfrm>
            <a:off x="4434840" y="4416552"/>
            <a:ext cx="109728" cy="109728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4581144" y="4379976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SMB 17%</a:t>
            </a:r>
            <a:endParaRPr lang="en-US" sz="700" dirty="0"/>
          </a:p>
        </p:txBody>
      </p:sp>
      <p:sp>
        <p:nvSpPr>
          <p:cNvPr id="42" name="Shape 38"/>
          <p:cNvSpPr/>
          <p:nvPr/>
        </p:nvSpPr>
        <p:spPr>
          <a:xfrm>
            <a:off x="4434840" y="4617720"/>
            <a:ext cx="109728" cy="10972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4581144" y="4581144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Startups 13%</a:t>
            </a:r>
            <a:endParaRPr lang="en-US" sz="700" dirty="0"/>
          </a:p>
        </p:txBody>
      </p:sp>
      <p:sp>
        <p:nvSpPr>
          <p:cNvPr id="44" name="Shape 40"/>
          <p:cNvSpPr/>
          <p:nvPr/>
        </p:nvSpPr>
        <p:spPr>
          <a:xfrm>
            <a:off x="4434840" y="4818888"/>
            <a:ext cx="109728" cy="10972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5" name="Text 41"/>
          <p:cNvSpPr/>
          <p:nvPr/>
        </p:nvSpPr>
        <p:spPr>
          <a:xfrm>
            <a:off x="4581144" y="4782312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11%</a:t>
            </a:r>
            <a:endParaRPr lang="en-US" sz="700" dirty="0"/>
          </a:p>
        </p:txBody>
      </p:sp>
      <p:sp>
        <p:nvSpPr>
          <p:cNvPr id="46" name="Shape 42"/>
          <p:cNvSpPr/>
          <p:nvPr/>
        </p:nvSpPr>
        <p:spPr>
          <a:xfrm>
            <a:off x="4434840" y="5020056"/>
            <a:ext cx="109728" cy="10972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7" name="Text 43"/>
          <p:cNvSpPr/>
          <p:nvPr/>
        </p:nvSpPr>
        <p:spPr>
          <a:xfrm>
            <a:off x="4581144" y="4983480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 10%</a:t>
            </a:r>
            <a:endParaRPr lang="en-US" sz="700" dirty="0"/>
          </a:p>
        </p:txBody>
      </p:sp>
      <p:sp>
        <p:nvSpPr>
          <p:cNvPr id="48" name="Shape 44"/>
          <p:cNvSpPr/>
          <p:nvPr/>
        </p:nvSpPr>
        <p:spPr>
          <a:xfrm>
            <a:off x="6080760" y="4215384"/>
            <a:ext cx="109728" cy="10972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9" name="Text 45"/>
          <p:cNvSpPr/>
          <p:nvPr/>
        </p:nvSpPr>
        <p:spPr>
          <a:xfrm>
            <a:off x="6227064" y="4178808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8%</a:t>
            </a:r>
            <a:endParaRPr lang="en-US" sz="700" dirty="0"/>
          </a:p>
        </p:txBody>
      </p:sp>
      <p:sp>
        <p:nvSpPr>
          <p:cNvPr id="50" name="Shape 46"/>
          <p:cNvSpPr/>
          <p:nvPr/>
        </p:nvSpPr>
        <p:spPr>
          <a:xfrm>
            <a:off x="6080760" y="4416552"/>
            <a:ext cx="109728" cy="109728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51" name="Text 47"/>
          <p:cNvSpPr/>
          <p:nvPr/>
        </p:nvSpPr>
        <p:spPr>
          <a:xfrm>
            <a:off x="6227064" y="4379976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7%</a:t>
            </a:r>
            <a:endParaRPr lang="en-US" sz="700" dirty="0"/>
          </a:p>
        </p:txBody>
      </p:sp>
      <p:sp>
        <p:nvSpPr>
          <p:cNvPr id="52" name="Shape 48"/>
          <p:cNvSpPr/>
          <p:nvPr/>
        </p:nvSpPr>
        <p:spPr>
          <a:xfrm>
            <a:off x="6080760" y="4617720"/>
            <a:ext cx="109728" cy="109728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53" name="Text 49"/>
          <p:cNvSpPr/>
          <p:nvPr/>
        </p:nvSpPr>
        <p:spPr>
          <a:xfrm>
            <a:off x="6227064" y="4581144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6%</a:t>
            </a:r>
            <a:endParaRPr lang="en-US" sz="700" dirty="0"/>
          </a:p>
        </p:txBody>
      </p:sp>
      <p:sp>
        <p:nvSpPr>
          <p:cNvPr id="54" name="Shape 50"/>
          <p:cNvSpPr/>
          <p:nvPr/>
        </p:nvSpPr>
        <p:spPr>
          <a:xfrm>
            <a:off x="6080760" y="4818888"/>
            <a:ext cx="109728" cy="10972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5" name="Text 51"/>
          <p:cNvSpPr/>
          <p:nvPr/>
        </p:nvSpPr>
        <p:spPr>
          <a:xfrm>
            <a:off x="6227064" y="4782312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5%</a:t>
            </a:r>
            <a:endParaRPr lang="en-US" sz="700" dirty="0"/>
          </a:p>
        </p:txBody>
      </p:sp>
      <p:sp>
        <p:nvSpPr>
          <p:cNvPr id="56" name="Shape 52"/>
          <p:cNvSpPr/>
          <p:nvPr/>
        </p:nvSpPr>
        <p:spPr>
          <a:xfrm>
            <a:off x="6080760" y="5020056"/>
            <a:ext cx="109728" cy="10972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57" name="Text 53"/>
          <p:cNvSpPr/>
          <p:nvPr/>
        </p:nvSpPr>
        <p:spPr>
          <a:xfrm>
            <a:off x="6227064" y="4983480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Others 3%</a:t>
            </a:r>
            <a:endParaRPr lang="en-US" sz="700" dirty="0"/>
          </a:p>
        </p:txBody>
      </p:sp>
      <p:sp>
        <p:nvSpPr>
          <p:cNvPr id="58" name="Shape 54"/>
          <p:cNvSpPr/>
          <p:nvPr/>
        </p:nvSpPr>
        <p:spPr>
          <a:xfrm>
            <a:off x="8138160" y="1051560"/>
            <a:ext cx="3566160" cy="5212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9" name="Shape 55"/>
          <p:cNvSpPr/>
          <p:nvPr/>
        </p:nvSpPr>
        <p:spPr>
          <a:xfrm>
            <a:off x="8138160" y="1051560"/>
            <a:ext cx="3566160" cy="54864"/>
          </a:xfrm>
          <a:prstGeom prst="rect">
            <a:avLst/>
          </a:prstGeom>
          <a:solidFill>
            <a:srgbClr val="7C2D12"/>
          </a:solidFill>
          <a:ln w="12700">
            <a:solidFill>
              <a:srgbClr val="7C2D12"/>
            </a:solidFill>
            <a:prstDash val="solid"/>
          </a:ln>
        </p:spPr>
      </p:sp>
      <p:sp>
        <p:nvSpPr>
          <p:cNvPr id="60" name="Text 56"/>
          <p:cNvSpPr/>
          <p:nvPr/>
        </p:nvSpPr>
        <p:spPr>
          <a:xfrm>
            <a:off x="8275320" y="116128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Portfolio</a:t>
            </a:r>
            <a:endParaRPr lang="en-US" sz="1400" dirty="0"/>
          </a:p>
        </p:txBody>
      </p:sp>
      <p:sp>
        <p:nvSpPr>
          <p:cNvPr id="61" name="Text 57"/>
          <p:cNvSpPr/>
          <p:nvPr/>
        </p:nvSpPr>
        <p:spPr>
          <a:xfrm>
            <a:off x="8275320" y="1490472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Sold by Product Line</a:t>
            </a:r>
            <a:endParaRPr lang="en-US" sz="900" dirty="0"/>
          </a:p>
        </p:txBody>
      </p:sp>
      <p:graphicFrame>
        <p:nvGraphicFramePr>
          <p:cNvPr id="62" name="Chart 2" descr=""/>
          <p:cNvGraphicFramePr/>
          <p:nvPr/>
        </p:nvGraphicFramePr>
        <p:xfrm>
          <a:off x="8229600" y="1764792"/>
          <a:ext cx="3383280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3" name="Text 58"/>
          <p:cNvSpPr/>
          <p:nvPr/>
        </p:nvSpPr>
        <p:spPr>
          <a:xfrm>
            <a:off x="8229600" y="246888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800" dirty="0"/>
          </a:p>
        </p:txBody>
      </p:sp>
      <p:sp>
        <p:nvSpPr>
          <p:cNvPr id="64" name="Text 59"/>
          <p:cNvSpPr/>
          <p:nvPr/>
        </p:nvSpPr>
        <p:spPr>
          <a:xfrm>
            <a:off x="8229600" y="2724912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89.2K</a:t>
            </a:r>
            <a:endParaRPr lang="en-US" sz="2000" dirty="0"/>
          </a:p>
        </p:txBody>
      </p:sp>
      <p:sp>
        <p:nvSpPr>
          <p:cNvPr id="65" name="Shape 60"/>
          <p:cNvSpPr/>
          <p:nvPr/>
        </p:nvSpPr>
        <p:spPr>
          <a:xfrm>
            <a:off x="8275320" y="4215384"/>
            <a:ext cx="109728" cy="109728"/>
          </a:xfrm>
          <a:prstGeom prst="rect">
            <a:avLst/>
          </a:prstGeom>
          <a:solidFill>
            <a:srgbClr val="7C2D12"/>
          </a:solidFill>
          <a:ln w="12700">
            <a:solidFill>
              <a:srgbClr val="7C2D12"/>
            </a:solidFill>
            <a:prstDash val="solid"/>
          </a:ln>
        </p:spPr>
      </p:sp>
      <p:sp>
        <p:nvSpPr>
          <p:cNvPr id="66" name="Text 61"/>
          <p:cNvSpPr/>
          <p:nvPr/>
        </p:nvSpPr>
        <p:spPr>
          <a:xfrm>
            <a:off x="8421624" y="4178808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Platform 19%</a:t>
            </a:r>
            <a:endParaRPr lang="en-US" sz="700" dirty="0"/>
          </a:p>
        </p:txBody>
      </p:sp>
      <p:sp>
        <p:nvSpPr>
          <p:cNvPr id="67" name="Shape 62"/>
          <p:cNvSpPr/>
          <p:nvPr/>
        </p:nvSpPr>
        <p:spPr>
          <a:xfrm>
            <a:off x="8275320" y="4416552"/>
            <a:ext cx="109728" cy="109728"/>
          </a:xfrm>
          <a:prstGeom prst="rect">
            <a:avLst/>
          </a:prstGeom>
          <a:solidFill>
            <a:srgbClr val="9A3412"/>
          </a:solidFill>
          <a:ln w="12700">
            <a:solidFill>
              <a:srgbClr val="9A3412"/>
            </a:solidFill>
            <a:prstDash val="solid"/>
          </a:ln>
        </p:spPr>
      </p:sp>
      <p:sp>
        <p:nvSpPr>
          <p:cNvPr id="68" name="Text 63"/>
          <p:cNvSpPr/>
          <p:nvPr/>
        </p:nvSpPr>
        <p:spPr>
          <a:xfrm>
            <a:off x="8421624" y="4379976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Suite 16%</a:t>
            </a:r>
            <a:endParaRPr lang="en-US" sz="700" dirty="0"/>
          </a:p>
        </p:txBody>
      </p:sp>
      <p:sp>
        <p:nvSpPr>
          <p:cNvPr id="69" name="Shape 64"/>
          <p:cNvSpPr/>
          <p:nvPr/>
        </p:nvSpPr>
        <p:spPr>
          <a:xfrm>
            <a:off x="8275320" y="4617720"/>
            <a:ext cx="109728" cy="10972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70" name="Text 65"/>
          <p:cNvSpPr/>
          <p:nvPr/>
        </p:nvSpPr>
        <p:spPr>
          <a:xfrm>
            <a:off x="8421624" y="4581144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 14%</a:t>
            </a:r>
            <a:endParaRPr lang="en-US" sz="700" dirty="0"/>
          </a:p>
        </p:txBody>
      </p:sp>
      <p:sp>
        <p:nvSpPr>
          <p:cNvPr id="71" name="Shape 66"/>
          <p:cNvSpPr/>
          <p:nvPr/>
        </p:nvSpPr>
        <p:spPr>
          <a:xfrm>
            <a:off x="8275320" y="4818888"/>
            <a:ext cx="109728" cy="10972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72" name="Text 67"/>
          <p:cNvSpPr/>
          <p:nvPr/>
        </p:nvSpPr>
        <p:spPr>
          <a:xfrm>
            <a:off x="8421624" y="4782312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 12%</a:t>
            </a:r>
            <a:endParaRPr lang="en-US" sz="700" dirty="0"/>
          </a:p>
        </p:txBody>
      </p:sp>
      <p:sp>
        <p:nvSpPr>
          <p:cNvPr id="73" name="Shape 68"/>
          <p:cNvSpPr/>
          <p:nvPr/>
        </p:nvSpPr>
        <p:spPr>
          <a:xfrm>
            <a:off x="8275320" y="5020056"/>
            <a:ext cx="109728" cy="10972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74" name="Text 69"/>
          <p:cNvSpPr/>
          <p:nvPr/>
        </p:nvSpPr>
        <p:spPr>
          <a:xfrm>
            <a:off x="8421624" y="4983480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Pkg 10%</a:t>
            </a:r>
            <a:endParaRPr lang="en-US" sz="700" dirty="0"/>
          </a:p>
        </p:txBody>
      </p:sp>
      <p:sp>
        <p:nvSpPr>
          <p:cNvPr id="75" name="Shape 70"/>
          <p:cNvSpPr/>
          <p:nvPr/>
        </p:nvSpPr>
        <p:spPr>
          <a:xfrm>
            <a:off x="9921240" y="4215384"/>
            <a:ext cx="109728" cy="109728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76" name="Text 71"/>
          <p:cNvSpPr/>
          <p:nvPr/>
        </p:nvSpPr>
        <p:spPr>
          <a:xfrm>
            <a:off x="10067544" y="4178808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Hub 9%</a:t>
            </a:r>
            <a:endParaRPr lang="en-US" sz="700" dirty="0"/>
          </a:p>
        </p:txBody>
      </p:sp>
      <p:sp>
        <p:nvSpPr>
          <p:cNvPr id="77" name="Shape 72"/>
          <p:cNvSpPr/>
          <p:nvPr/>
        </p:nvSpPr>
        <p:spPr>
          <a:xfrm>
            <a:off x="9921240" y="4416552"/>
            <a:ext cx="109728" cy="109728"/>
          </a:xfrm>
          <a:prstGeom prst="rect">
            <a:avLst/>
          </a:prstGeom>
          <a:solidFill>
            <a:srgbClr val="FDBA74"/>
          </a:solidFill>
          <a:ln w="12700">
            <a:solidFill>
              <a:srgbClr val="FDBA74"/>
            </a:solidFill>
            <a:prstDash val="solid"/>
          </a:ln>
        </p:spPr>
      </p:sp>
      <p:sp>
        <p:nvSpPr>
          <p:cNvPr id="78" name="Text 73"/>
          <p:cNvSpPr/>
          <p:nvPr/>
        </p:nvSpPr>
        <p:spPr>
          <a:xfrm>
            <a:off x="10067544" y="4379976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Plans 7%</a:t>
            </a:r>
            <a:endParaRPr lang="en-US" sz="700" dirty="0"/>
          </a:p>
        </p:txBody>
      </p:sp>
      <p:sp>
        <p:nvSpPr>
          <p:cNvPr id="79" name="Shape 74"/>
          <p:cNvSpPr/>
          <p:nvPr/>
        </p:nvSpPr>
        <p:spPr>
          <a:xfrm>
            <a:off x="9921240" y="4617720"/>
            <a:ext cx="109728" cy="109728"/>
          </a:xfrm>
          <a:prstGeom prst="rect">
            <a:avLst/>
          </a:prstGeom>
          <a:solidFill>
            <a:srgbClr val="BE185D"/>
          </a:solidFill>
          <a:ln w="12700">
            <a:solidFill>
              <a:srgbClr val="BE185D"/>
            </a:solidFill>
            <a:prstDash val="solid"/>
          </a:ln>
        </p:spPr>
      </p:sp>
      <p:sp>
        <p:nvSpPr>
          <p:cNvPr id="80" name="Text 75"/>
          <p:cNvSpPr/>
          <p:nvPr/>
        </p:nvSpPr>
        <p:spPr>
          <a:xfrm>
            <a:off x="10067544" y="4581144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Storage 6%</a:t>
            </a:r>
            <a:endParaRPr lang="en-US" sz="700" dirty="0"/>
          </a:p>
        </p:txBody>
      </p:sp>
      <p:sp>
        <p:nvSpPr>
          <p:cNvPr id="81" name="Shape 76"/>
          <p:cNvSpPr/>
          <p:nvPr/>
        </p:nvSpPr>
        <p:spPr>
          <a:xfrm>
            <a:off x="9921240" y="4818888"/>
            <a:ext cx="109728" cy="109728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82" name="Text 77"/>
          <p:cNvSpPr/>
          <p:nvPr/>
        </p:nvSpPr>
        <p:spPr>
          <a:xfrm>
            <a:off x="10067544" y="4782312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Features 5%</a:t>
            </a:r>
            <a:endParaRPr lang="en-US" sz="700" dirty="0"/>
          </a:p>
        </p:txBody>
      </p:sp>
      <p:sp>
        <p:nvSpPr>
          <p:cNvPr id="83" name="Shape 78"/>
          <p:cNvSpPr/>
          <p:nvPr/>
        </p:nvSpPr>
        <p:spPr>
          <a:xfrm>
            <a:off x="9921240" y="5020056"/>
            <a:ext cx="109728" cy="109728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84" name="Text 79"/>
          <p:cNvSpPr/>
          <p:nvPr/>
        </p:nvSpPr>
        <p:spPr>
          <a:xfrm>
            <a:off x="10067544" y="4983480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Dev 3%</a:t>
            </a:r>
            <a:endParaRPr lang="en-US" sz="700" dirty="0"/>
          </a:p>
        </p:txBody>
      </p:sp>
      <p:sp>
        <p:nvSpPr>
          <p:cNvPr id="85" name="Text 80"/>
          <p:cNvSpPr/>
          <p:nvPr/>
        </p:nvSpPr>
        <p:spPr>
          <a:xfrm>
            <a:off x="365760" y="6537960"/>
            <a:ext cx="1143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as of Q1 2026  •  All values are illustrative  •  Donut charts are fully editable in PowerPoint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2026-05-17T18:18:02Z</dcterms:created>
  <dcterms:modified xsi:type="dcterms:W3CDTF">2026-05-17T18:18:02Z</dcterms:modified>
</cp:coreProperties>
</file>